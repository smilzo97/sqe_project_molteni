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27A3769-973A-471F-AE95-803ACD9DB45A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8B562AB-E890-432E-8086-3C35B5B6BC74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gli stili del testo dello schema</a:t>
            </a:r>
            <a:endParaRPr lang="en-US"/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0" name="Rettango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ttango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ttango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nettore dirit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5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20" name="Segnaposto dat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46B2AB89-642D-461B-88E3-BE7E49276E6D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21" name="Segnaposto piè di pa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egnaposto numero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0D28E-6F2F-4715-A424-3B01AC64AD4B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23" name="Rettango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ttango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ttango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5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F953424F-4FD0-4DEA-A244-2F5A83926123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487A35-6EB2-4106-87BE-5998F37E93E7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0A2449-0E6F-4EC8-9AF5-127FFF9E4F17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ECC08F-3232-4266-A826-505EFF618F02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C19903-FCE7-40DD-9ABE-472E27EE3DF9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24F848B3-DD0C-4C86-9703-1DC7B521FCF8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711CFEF3-F103-4E31-9572-24F0BC84FDFF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6DF1C0-0F0C-4064-ABD6-C9C1782C86AE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3A0FBA-A5A6-4E7F-AECA-E819E1A4206B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ttango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Rettango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ttango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"/>
              <a:t>Fare clic per modificare gli stili del testo dello schema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8228F9-9C50-4094-9999-09A1682E91E0}" type="datetime1">
              <a:rPr lang="it-IT" smtClean="0"/>
              <a:t>25/01/2022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Primo piano di un logo&#10;&#10;Descrizione generata automaticament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ttangolo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 fontScale="90000"/>
          </a:bodyPr>
          <a:lstStyle/>
          <a:p>
            <a:pPr rtl="0"/>
            <a:r>
              <a:rPr lang="it-IT" sz="4800" b="1" dirty="0"/>
              <a:t>SOFTWARE QUALITY EVALUATION</a:t>
            </a:r>
            <a:endParaRPr lang="it" sz="4400" dirty="0">
              <a:solidFill>
                <a:schemeClr val="tx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77500" lnSpcReduction="20000"/>
          </a:bodyPr>
          <a:lstStyle/>
          <a:p>
            <a:pPr rtl="0">
              <a:spcAft>
                <a:spcPts val="600"/>
              </a:spcAft>
            </a:pPr>
            <a:r>
              <a:rPr lang="it-IT" dirty="0">
                <a:solidFill>
                  <a:schemeClr val="tx1"/>
                </a:solidFill>
              </a:rPr>
              <a:t>Gianluca</a:t>
            </a:r>
            <a:r>
              <a:rPr lang="it" dirty="0">
                <a:solidFill>
                  <a:schemeClr val="tx1"/>
                </a:solidFill>
              </a:rPr>
              <a:t> Molteni </a:t>
            </a:r>
          </a:p>
          <a:p>
            <a:pPr rtl="0">
              <a:spcAft>
                <a:spcPts val="600"/>
              </a:spcAft>
            </a:pPr>
            <a:r>
              <a:rPr lang="it-IT" dirty="0">
                <a:solidFill>
                  <a:schemeClr val="tx1"/>
                </a:solidFill>
              </a:rPr>
              <a:t>M</a:t>
            </a:r>
            <a:r>
              <a:rPr lang="it" dirty="0">
                <a:solidFill>
                  <a:schemeClr val="tx1"/>
                </a:solidFill>
              </a:rPr>
              <a:t>at. 730113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it" dirty="0"/>
              <a:t>INTRODUCTION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F53287-2CE7-4BD0-9F48-5CC7CD4F4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800" dirty="0"/>
              <a:t>The </a:t>
            </a:r>
            <a:r>
              <a:rPr lang="it-IT" sz="1800" dirty="0" err="1"/>
              <a:t>aim</a:t>
            </a:r>
            <a:r>
              <a:rPr lang="it-IT" sz="1800" dirty="0"/>
              <a:t> of </a:t>
            </a:r>
            <a:r>
              <a:rPr lang="it-IT" sz="1800" dirty="0" err="1"/>
              <a:t>this</a:t>
            </a:r>
            <a:r>
              <a:rPr lang="it-IT" sz="1800" dirty="0"/>
              <a:t> project </a:t>
            </a:r>
            <a:r>
              <a:rPr lang="it-IT" sz="1800" dirty="0" err="1"/>
              <a:t>is</a:t>
            </a:r>
            <a:r>
              <a:rPr lang="it-IT" sz="1800" dirty="0"/>
              <a:t> to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perform a study of a dataset</a:t>
            </a:r>
          </a:p>
          <a:p>
            <a:r>
              <a:rPr lang="en-US" sz="1800" dirty="0">
                <a:latin typeface="+mj-lt"/>
              </a:rPr>
              <a:t>HOW? Using descriptive statistics, data analysis and correlation techniques.</a:t>
            </a:r>
          </a:p>
          <a:p>
            <a:endParaRPr lang="en-US" sz="1800" dirty="0">
              <a:latin typeface="+mj-lt"/>
            </a:endParaRPr>
          </a:p>
          <a:p>
            <a:endParaRPr lang="it-IT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1E098E-171B-4721-BAB4-43006FE5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DATASET</a:t>
            </a:r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006206D3-A8E6-4D7E-9946-587200551696}"/>
              </a:ext>
            </a:extLst>
          </p:cNvPr>
          <p:cNvSpPr txBox="1">
            <a:spLocks/>
          </p:cNvSpPr>
          <p:nvPr/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+mj-lt"/>
              </a:rPr>
              <a:t>The dataset </a:t>
            </a:r>
            <a:r>
              <a:rPr lang="it-IT" sz="1800" dirty="0" err="1">
                <a:latin typeface="+mj-lt"/>
              </a:rPr>
              <a:t>selected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is</a:t>
            </a:r>
            <a:r>
              <a:rPr lang="it-IT" sz="1800" dirty="0">
                <a:latin typeface="+mj-lt"/>
              </a:rPr>
              <a:t> « jedit-4.3 »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Dataset dimension: 492 records and 24 attributes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No null-values 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Dataset division:</a:t>
            </a:r>
          </a:p>
          <a:p>
            <a:endParaRPr lang="en-US" sz="1800" dirty="0">
              <a:latin typeface="+mj-lt"/>
            </a:endParaRPr>
          </a:p>
          <a:p>
            <a:pPr marL="274320" lvl="1" indent="0">
              <a:buNone/>
            </a:pPr>
            <a:endParaRPr lang="en-US" sz="16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endParaRPr lang="it-IT" sz="1800" dirty="0">
              <a:latin typeface="+mj-lt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4A173B3-5914-421E-84C5-6B3A74D2B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73812"/>
              </p:ext>
            </p:extLst>
          </p:nvPr>
        </p:nvGraphicFramePr>
        <p:xfrm>
          <a:off x="3230244" y="5132260"/>
          <a:ext cx="5731510" cy="1188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755">
                  <a:extLst>
                    <a:ext uri="{9D8B030D-6E8A-4147-A177-3AD203B41FA5}">
                      <a16:colId xmlns:a16="http://schemas.microsoft.com/office/drawing/2014/main" val="2315806732"/>
                    </a:ext>
                  </a:extLst>
                </a:gridCol>
                <a:gridCol w="2865755">
                  <a:extLst>
                    <a:ext uri="{9D8B030D-6E8A-4147-A177-3AD203B41FA5}">
                      <a16:colId xmlns:a16="http://schemas.microsoft.com/office/drawing/2014/main" val="1704952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 dirty="0">
                          <a:effectLst/>
                        </a:rPr>
                        <a:t>Bug class</a:t>
                      </a:r>
                      <a:endParaRPr lang="it-I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 dirty="0" err="1">
                          <a:effectLst/>
                        </a:rPr>
                        <a:t>Number</a:t>
                      </a:r>
                      <a:r>
                        <a:rPr lang="it-IT" sz="1100" dirty="0">
                          <a:effectLst/>
                        </a:rPr>
                        <a:t> of </a:t>
                      </a:r>
                      <a:r>
                        <a:rPr lang="it-IT" sz="1100" dirty="0" err="1">
                          <a:effectLst/>
                        </a:rPr>
                        <a:t>elements</a:t>
                      </a:r>
                      <a:endParaRPr lang="it-I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14065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 dirty="0">
                          <a:effectLst/>
                        </a:rPr>
                        <a:t>0</a:t>
                      </a:r>
                      <a:endParaRPr lang="it-I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>
                          <a:effectLst/>
                        </a:rPr>
                        <a:t>481</a:t>
                      </a:r>
                      <a:endParaRPr lang="it-I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9641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>
                          <a:effectLst/>
                        </a:rPr>
                        <a:t>1</a:t>
                      </a:r>
                      <a:endParaRPr lang="it-I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>
                          <a:effectLst/>
                        </a:rPr>
                        <a:t>10</a:t>
                      </a:r>
                      <a:endParaRPr lang="it-I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61616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>
                          <a:effectLst/>
                        </a:rPr>
                        <a:t>2</a:t>
                      </a:r>
                      <a:endParaRPr lang="it-IT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100" dirty="0">
                          <a:effectLst/>
                        </a:rPr>
                        <a:t>1</a:t>
                      </a:r>
                      <a:endParaRPr lang="it-IT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36965355"/>
                  </a:ext>
                </a:extLst>
              </a:tr>
            </a:tbl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5A5324C1-634A-475C-AAC7-8C5DE48C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" y="2543436"/>
            <a:ext cx="11329851" cy="148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9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D907DFA-997B-4F29-A92D-8046934D2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599" y="552545"/>
            <a:ext cx="7696201" cy="575290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C974BB9-3D80-43C5-BB5B-8B8F3623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43ECC08F-3232-4266-A826-505EFF618F02}" type="datetime1">
              <a:rPr lang="it-IT" smtClean="0"/>
              <a:pPr rtl="0">
                <a:spcAft>
                  <a:spcPts val="600"/>
                </a:spcAft>
              </a:pPr>
              <a:t>25/01/2022</a:t>
            </a:fld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1AB1B1-0CB6-4B33-AF9F-B1D726E2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it-IT" dirty="0"/>
              <a:t>CORRELATION MATRIX</a:t>
            </a:r>
            <a:endParaRPr lang="it-IT"/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9C1FD2C1-3590-47A1-8638-7A918231E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/>
          <a:lstStyle/>
          <a:p>
            <a:r>
              <a:rPr lang="en-US" dirty="0"/>
              <a:t>This matrix represent the correlation between features: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Greater is the color intensity, greater will be the correlation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Lower is the color intensity, lower will be the correlation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5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804640-EE4D-427F-9FC8-58D33EAC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SELECT K-BEST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F54A6A-8910-434F-8E38-B454F1FE6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3ECC08F-3232-4266-A826-505EFF618F02}" type="datetime1">
              <a:rPr lang="it-IT" smtClean="0"/>
              <a:t>25/01/2022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337FBA-F644-4027-A994-35C0283A1EED}"/>
              </a:ext>
            </a:extLst>
          </p:cNvPr>
          <p:cNvSpPr txBox="1"/>
          <p:nvPr/>
        </p:nvSpPr>
        <p:spPr>
          <a:xfrm>
            <a:off x="1066800" y="1741714"/>
            <a:ext cx="10058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select three independent variables with select k-best algorithm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K indicates the number of features that must be taken in account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Feature results are based on the chi2 value</a:t>
            </a:r>
          </a:p>
          <a:p>
            <a:endParaRPr lang="en-US" dirty="0"/>
          </a:p>
          <a:p>
            <a:r>
              <a:rPr lang="en-US" dirty="0"/>
              <a:t>Appling this algorithm on the dataset, we obtain:</a:t>
            </a:r>
          </a:p>
          <a:p>
            <a:endParaRPr lang="en-US" dirty="0"/>
          </a:p>
          <a:p>
            <a:r>
              <a:rPr lang="en-US" dirty="0"/>
              <a:t>loc – </a:t>
            </a:r>
            <a:r>
              <a:rPr lang="en-US" dirty="0" err="1"/>
              <a:t>lcom</a:t>
            </a:r>
            <a:r>
              <a:rPr lang="en-US" dirty="0"/>
              <a:t> – </a:t>
            </a:r>
            <a:r>
              <a:rPr lang="en-US" dirty="0" err="1"/>
              <a:t>rfc</a:t>
            </a:r>
            <a:r>
              <a:rPr lang="en-US" dirty="0"/>
              <a:t> like the best attributes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table on the left summarize the k-best results,</a:t>
            </a:r>
          </a:p>
          <a:p>
            <a:r>
              <a:rPr lang="en-US" dirty="0"/>
              <a:t>sorted by score</a:t>
            </a:r>
          </a:p>
        </p:txBody>
      </p:sp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36A18340-323E-47BD-9060-65E628481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691" y="3429000"/>
            <a:ext cx="2893045" cy="28678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71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64AC46-80E5-4F3F-972C-6F0B9B54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WHAT ARE LOC, LCOM AND RFC?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8F6F2A-D63B-4BC2-94E4-32F020C49FA0}"/>
              </a:ext>
            </a:extLst>
          </p:cNvPr>
          <p:cNvSpPr txBox="1"/>
          <p:nvPr/>
        </p:nvSpPr>
        <p:spPr>
          <a:xfrm>
            <a:off x="870857" y="2014194"/>
            <a:ext cx="104605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loc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line of code - It is the sum of number of fields, number of methods and number of instructions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every method of the investigated class</a:t>
            </a:r>
          </a:p>
          <a:p>
            <a:endParaRPr lang="it-I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lcom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 lack of cohesion in methods - given a class, it is the difference between the number of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pairs of methods that do not share instance variables and the number of pairs of methods that do share instance variables, if this difference is not negative</a:t>
            </a: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rfc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response for a class - The RFC metric measures the number of different methods that can be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executed when an object of that class receives a message.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8061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55E913-5EC8-4146-B041-D4D7B299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GRAPH VISUALIZATION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D7329CE-7FF6-46B6-BDFD-D02301E1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10844"/>
            <a:ext cx="4830486" cy="4020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B2D5F43-3409-4B64-898F-F03C2F0C1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098" y="2010844"/>
            <a:ext cx="4509102" cy="40275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209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CFFF18A-A87A-41AA-BFF2-F2228A48F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0" y="427629"/>
            <a:ext cx="3711368" cy="3106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7EE6920-4256-426F-B647-25EE1FA6F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902" y="427629"/>
            <a:ext cx="3711368" cy="309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8C61CE4-20D7-42D9-9532-3CF220FAF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099" y="3325944"/>
            <a:ext cx="3867804" cy="32535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D701093-6649-48A1-8637-5D5436D5ACCE}"/>
              </a:ext>
            </a:extLst>
          </p:cNvPr>
          <p:cNvSpPr txBox="1"/>
          <p:nvPr/>
        </p:nvSpPr>
        <p:spPr>
          <a:xfrm>
            <a:off x="4480560" y="1230455"/>
            <a:ext cx="323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HISTOGRAMS</a:t>
            </a:r>
          </a:p>
        </p:txBody>
      </p:sp>
    </p:spTree>
    <p:extLst>
      <p:ext uri="{BB962C8B-B14F-4D97-AF65-F5344CB8AC3E}">
        <p14:creationId xmlns:p14="http://schemas.microsoft.com/office/powerpoint/2010/main" val="86148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1A26F3-3333-452A-A679-6F951F00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968" y="1384664"/>
            <a:ext cx="3726064" cy="1321688"/>
          </a:xfrm>
        </p:spPr>
        <p:txBody>
          <a:bodyPr>
            <a:normAutofit/>
          </a:bodyPr>
          <a:lstStyle/>
          <a:p>
            <a:r>
              <a:rPr lang="it-IT" dirty="0"/>
              <a:t>SCATTER PLOT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19A6F46-7FB9-4413-89BD-C2CFED824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75" y="488943"/>
            <a:ext cx="3666295" cy="306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D4CD43C-34AD-4681-A124-7220162E5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609" y="488943"/>
            <a:ext cx="3683315" cy="306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A5E00B1-FF83-4A3D-8B59-3B22189B0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759" y="3172635"/>
            <a:ext cx="3883273" cy="3228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5209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0B48A-C437-4A11-9E8A-A8F78E38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0317" y="1152525"/>
            <a:ext cx="3421117" cy="1491006"/>
          </a:xfrm>
        </p:spPr>
        <p:txBody>
          <a:bodyPr/>
          <a:lstStyle/>
          <a:p>
            <a:pPr algn="ctr"/>
            <a:r>
              <a:rPr lang="it-IT" dirty="0"/>
              <a:t>BOXPLOT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5D7DFEC-5A7D-4A40-82BA-882D530D8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13" y="462306"/>
            <a:ext cx="8162063" cy="271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DDFF0E1-0F53-40B4-BE90-C9113F751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558" y="3683876"/>
            <a:ext cx="8328870" cy="27118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732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C564E10-865F-4818-B1FB-DBD7296D7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5" y="461402"/>
            <a:ext cx="8072236" cy="277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F10BBF5-40C8-4F2F-ACFC-964ED0365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047" y="3620814"/>
            <a:ext cx="8230902" cy="2775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2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9CBA99-F495-4BB4-BDC0-3362F55C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DESCRIPTIVE ANALYSIS</a:t>
            </a:r>
          </a:p>
        </p:txBody>
      </p:sp>
      <p:pic>
        <p:nvPicPr>
          <p:cNvPr id="4" name="Immagine 3" descr="Immagine che contiene testo, finestra, tabellonesegnapunti, nero&#10;&#10;Descrizione generata automaticamente">
            <a:extLst>
              <a:ext uri="{FF2B5EF4-FFF2-40B4-BE49-F238E27FC236}">
                <a16:creationId xmlns:a16="http://schemas.microsoft.com/office/drawing/2014/main" id="{023BC7EC-062A-4CD5-8782-FD35DFEA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06" y="1793477"/>
            <a:ext cx="7262079" cy="207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DA598AA-2A52-4502-9A3E-324DCEE84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728" y="1781832"/>
            <a:ext cx="3657600" cy="41719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4521E0-6174-4368-A1E7-1ADDB700992F}"/>
              </a:ext>
            </a:extLst>
          </p:cNvPr>
          <p:cNvSpPr txBox="1"/>
          <p:nvPr/>
        </p:nvSpPr>
        <p:spPr>
          <a:xfrm>
            <a:off x="898633" y="4540524"/>
            <a:ext cx="63818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General </a:t>
            </a:r>
            <a:r>
              <a:rPr lang="it-IT" dirty="0" err="1"/>
              <a:t>statistics</a:t>
            </a:r>
            <a:r>
              <a:rPr lang="it-IT" dirty="0"/>
              <a:t> on the </a:t>
            </a:r>
            <a:r>
              <a:rPr lang="it-IT" dirty="0" err="1"/>
              <a:t>original</a:t>
            </a:r>
            <a:r>
              <a:rPr lang="it-IT" dirty="0"/>
              <a:t> dataset(Table1) and</a:t>
            </a:r>
          </a:p>
          <a:p>
            <a:r>
              <a:rPr lang="it-IT" dirty="0"/>
              <a:t>on the dataset </a:t>
            </a:r>
            <a:r>
              <a:rPr lang="it-IT" dirty="0" err="1"/>
              <a:t>derived</a:t>
            </a:r>
            <a:r>
              <a:rPr lang="it-IT" dirty="0"/>
              <a:t> by k-best </a:t>
            </a:r>
            <a:r>
              <a:rPr lang="it-IT" dirty="0" err="1"/>
              <a:t>selection</a:t>
            </a:r>
            <a:r>
              <a:rPr lang="it-IT" dirty="0"/>
              <a:t>  (Table2)</a:t>
            </a:r>
          </a:p>
          <a:p>
            <a:endParaRPr lang="it-IT" dirty="0"/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some information like the minimum, maximum</a:t>
            </a:r>
          </a:p>
          <a:p>
            <a:r>
              <a:rPr lang="it-IT" dirty="0"/>
              <a:t>and </a:t>
            </a:r>
            <a:r>
              <a:rPr lang="it-IT" dirty="0" err="1"/>
              <a:t>average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1D6DF0-CEFE-4B40-B952-6B7110153343}"/>
              </a:ext>
            </a:extLst>
          </p:cNvPr>
          <p:cNvSpPr txBox="1"/>
          <p:nvPr/>
        </p:nvSpPr>
        <p:spPr>
          <a:xfrm>
            <a:off x="491963" y="386780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</a:t>
            </a:r>
            <a:r>
              <a:rPr lang="it-IT" dirty="0" err="1"/>
              <a:t>Table</a:t>
            </a:r>
            <a:r>
              <a:rPr lang="it-IT" dirty="0"/>
              <a:t> 1]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4E7A3AA-8EEA-466E-960F-C9B7F3CCE1B0}"/>
              </a:ext>
            </a:extLst>
          </p:cNvPr>
          <p:cNvSpPr txBox="1"/>
          <p:nvPr/>
        </p:nvSpPr>
        <p:spPr>
          <a:xfrm>
            <a:off x="10515774" y="5953782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[Table2]</a:t>
            </a:r>
          </a:p>
        </p:txBody>
      </p:sp>
    </p:spTree>
    <p:extLst>
      <p:ext uri="{BB962C8B-B14F-4D97-AF65-F5344CB8AC3E}">
        <p14:creationId xmlns:p14="http://schemas.microsoft.com/office/powerpoint/2010/main" val="1633204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A3553-3453-481A-A6A8-24172F23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1530"/>
            <a:ext cx="10058400" cy="1371600"/>
          </a:xfrm>
        </p:spPr>
        <p:txBody>
          <a:bodyPr/>
          <a:lstStyle/>
          <a:p>
            <a:pPr algn="ctr"/>
            <a:r>
              <a:rPr lang="it-IT" dirty="0"/>
              <a:t>LINEAR REGRESSION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A387308-D10A-44A2-937F-4930CB4F8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20" y="3580236"/>
            <a:ext cx="3942653" cy="2796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38046DF6-1EE0-42F2-9C8C-C1F8345C3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139" y="3600929"/>
            <a:ext cx="3955517" cy="2796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C679F86-DE48-42CC-999E-4D3635D5B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125" y="3580236"/>
            <a:ext cx="3942653" cy="27898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9AA1DB5-720C-46F0-97D1-D06871F33B40}"/>
              </a:ext>
            </a:extLst>
          </p:cNvPr>
          <p:cNvSpPr txBox="1"/>
          <p:nvPr/>
        </p:nvSpPr>
        <p:spPr>
          <a:xfrm>
            <a:off x="1152460" y="1587062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Linear regression allows to predict the value of a variable (called dependent), starting from another variable (defined independent).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We have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coefficient of determination (R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), the slope and the intercept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The regression has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general equation y = mx + q.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F6CD3A4-EE47-450B-B965-1D29C0DD247B}"/>
              </a:ext>
            </a:extLst>
          </p:cNvPr>
          <p:cNvSpPr txBox="1"/>
          <p:nvPr/>
        </p:nvSpPr>
        <p:spPr>
          <a:xfrm>
            <a:off x="1152460" y="2954598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</a:t>
            </a:r>
            <a:r>
              <a:rPr lang="it-IT" baseline="30000" dirty="0"/>
              <a:t>2</a:t>
            </a:r>
            <a:r>
              <a:rPr lang="it-IT" dirty="0"/>
              <a:t> = 0,0085</a:t>
            </a:r>
          </a:p>
          <a:p>
            <a:r>
              <a:rPr lang="it-IT" dirty="0"/>
              <a:t>y = 1,62x + 0,0176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BFC587-0399-41E5-87BF-AE0D0CBEAC3F}"/>
              </a:ext>
            </a:extLst>
          </p:cNvPr>
          <p:cNvSpPr txBox="1"/>
          <p:nvPr/>
        </p:nvSpPr>
        <p:spPr>
          <a:xfrm>
            <a:off x="5127525" y="2933905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</a:t>
            </a:r>
            <a:r>
              <a:rPr lang="it-IT" baseline="30000" dirty="0"/>
              <a:t>2</a:t>
            </a:r>
            <a:r>
              <a:rPr lang="it-IT" dirty="0"/>
              <a:t> = 0,002</a:t>
            </a:r>
          </a:p>
          <a:p>
            <a:r>
              <a:rPr lang="it-IT" dirty="0"/>
              <a:t>y = 3,42x + 0,0234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261A328-692C-4E70-8335-386E66E6A337}"/>
              </a:ext>
            </a:extLst>
          </p:cNvPr>
          <p:cNvSpPr txBox="1"/>
          <p:nvPr/>
        </p:nvSpPr>
        <p:spPr>
          <a:xfrm>
            <a:off x="8931270" y="290108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</a:t>
            </a:r>
            <a:r>
              <a:rPr lang="it-IT" baseline="30000" dirty="0"/>
              <a:t>2</a:t>
            </a:r>
            <a:r>
              <a:rPr lang="it-IT" dirty="0"/>
              <a:t> = 0,036</a:t>
            </a:r>
          </a:p>
          <a:p>
            <a:r>
              <a:rPr lang="it-IT" dirty="0"/>
              <a:t>y = 0,00056x + 0,0019</a:t>
            </a:r>
          </a:p>
        </p:txBody>
      </p:sp>
    </p:spTree>
    <p:extLst>
      <p:ext uri="{BB962C8B-B14F-4D97-AF65-F5344CB8AC3E}">
        <p14:creationId xmlns:p14="http://schemas.microsoft.com/office/powerpoint/2010/main" val="101213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E9FE9-EA4F-48C5-A599-399E8F7F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OUTLIERS MANAGEMENT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5F020A9-B469-4E3F-957D-765B9C8FB940}"/>
              </a:ext>
            </a:extLst>
          </p:cNvPr>
          <p:cNvSpPr txBox="1"/>
          <p:nvPr/>
        </p:nvSpPr>
        <p:spPr>
          <a:xfrm>
            <a:off x="1140823" y="2420983"/>
            <a:ext cx="103755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he distribution of the values is very wide, that is it has a very wide range of values.</a:t>
            </a:r>
          </a:p>
          <a:p>
            <a:r>
              <a:rPr lang="en-US" dirty="0">
                <a:latin typeface="Arial" panose="020B0604020202020204" pitchFamily="34" charset="0"/>
              </a:rPr>
              <a:t>In most cases, some of these data, are anomalies and they must be deleted in order to have</a:t>
            </a:r>
          </a:p>
          <a:p>
            <a:r>
              <a:rPr lang="en-US" dirty="0">
                <a:latin typeface="Arial" panose="020B0604020202020204" pitchFamily="34" charset="0"/>
              </a:rPr>
              <a:t>a homogeneous set of data.</a:t>
            </a:r>
          </a:p>
          <a:p>
            <a:r>
              <a:rPr lang="en-US" dirty="0">
                <a:latin typeface="Arial" panose="020B0604020202020204" pitchFamily="34" charset="0"/>
              </a:rPr>
              <a:t>We need to set an upper limit and a lower limit, called quantile, and keep only values between these</a:t>
            </a:r>
          </a:p>
          <a:p>
            <a:r>
              <a:rPr lang="en-US" dirty="0">
                <a:latin typeface="Arial" panose="020B0604020202020204" pitchFamily="34" charset="0"/>
              </a:rPr>
              <a:t>range.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5476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4F18138-452F-49FA-9EAC-262EEC55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02" y="530773"/>
            <a:ext cx="7742596" cy="178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EAA31DA-2AAA-49DB-B95C-C4CA0F3981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673" y="2547962"/>
            <a:ext cx="7742653" cy="17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68CB9D4-5F8A-411C-AF4B-AB184B2681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673" y="4539423"/>
            <a:ext cx="7742653" cy="17878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2481231-DF9C-47EA-AF32-5CDC942450CB}"/>
              </a:ext>
            </a:extLst>
          </p:cNvPr>
          <p:cNvSpPr txBox="1"/>
          <p:nvPr/>
        </p:nvSpPr>
        <p:spPr>
          <a:xfrm>
            <a:off x="1084729" y="3244333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lcom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25BDF1D-2044-4158-826E-DE40816F8BE2}"/>
              </a:ext>
            </a:extLst>
          </p:cNvPr>
          <p:cNvSpPr txBox="1"/>
          <p:nvPr/>
        </p:nvSpPr>
        <p:spPr>
          <a:xfrm>
            <a:off x="1084729" y="124000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loc</a:t>
            </a:r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E24E825-A522-4435-8F40-4E65BB155875}"/>
              </a:ext>
            </a:extLst>
          </p:cNvPr>
          <p:cNvSpPr txBox="1"/>
          <p:nvPr/>
        </p:nvSpPr>
        <p:spPr>
          <a:xfrm>
            <a:off x="1084729" y="5248657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rfc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9400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C2167-A7EA-45AE-BDBA-654D400F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LINEAR REGESSION WITHOUT OUTLIERS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F94570-5090-46EF-9374-2F098CCFBA6D}"/>
              </a:ext>
            </a:extLst>
          </p:cNvPr>
          <p:cNvSpPr txBox="1"/>
          <p:nvPr/>
        </p:nvSpPr>
        <p:spPr>
          <a:xfrm>
            <a:off x="757645" y="1683268"/>
            <a:ext cx="1067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repeat</a:t>
            </a:r>
            <a:r>
              <a:rPr lang="it-IT" dirty="0"/>
              <a:t> the linear </a:t>
            </a:r>
            <a:r>
              <a:rPr lang="it-IT" dirty="0" err="1"/>
              <a:t>regression</a:t>
            </a:r>
            <a:r>
              <a:rPr lang="it-IT" dirty="0"/>
              <a:t> on the dataset after the </a:t>
            </a:r>
            <a:r>
              <a:rPr lang="it-IT" dirty="0" err="1"/>
              <a:t>outliers</a:t>
            </a:r>
            <a:r>
              <a:rPr lang="it-IT" dirty="0"/>
              <a:t> </a:t>
            </a:r>
            <a:r>
              <a:rPr lang="it-IT" dirty="0" err="1"/>
              <a:t>removal</a:t>
            </a:r>
            <a:r>
              <a:rPr lang="it-IT" dirty="0"/>
              <a:t>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61D989B-2A70-4CBE-8967-F94C70564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85" y="3226139"/>
            <a:ext cx="3933343" cy="2789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E733B74C-4CB7-4F63-9277-3CBF3FEBB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498" y="3226139"/>
            <a:ext cx="3946176" cy="2789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0CFF569-CA2F-4004-AD91-A299A69A5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764" y="3211147"/>
            <a:ext cx="3946176" cy="28046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94C5A84-37C4-4CA4-BF18-583DB0DA6BCD}"/>
              </a:ext>
            </a:extLst>
          </p:cNvPr>
          <p:cNvSpPr txBox="1"/>
          <p:nvPr/>
        </p:nvSpPr>
        <p:spPr>
          <a:xfrm>
            <a:off x="1108521" y="2499615"/>
            <a:ext cx="21082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baseline="30000" dirty="0"/>
              <a:t>2</a:t>
            </a:r>
            <a:r>
              <a:rPr lang="en-GB" dirty="0"/>
              <a:t> = 0,003</a:t>
            </a:r>
          </a:p>
          <a:p>
            <a:pPr algn="ctr"/>
            <a:r>
              <a:rPr lang="en-GB" dirty="0"/>
              <a:t>y = 2,41x + 0,0137</a:t>
            </a:r>
          </a:p>
          <a:p>
            <a:endParaRPr lang="en-GB" baseline="300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0CC654-0E09-4F86-A140-A8EA522CF2BF}"/>
              </a:ext>
            </a:extLst>
          </p:cNvPr>
          <p:cNvSpPr txBox="1"/>
          <p:nvPr/>
        </p:nvSpPr>
        <p:spPr>
          <a:xfrm>
            <a:off x="5041865" y="2499615"/>
            <a:ext cx="2108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baseline="30000" dirty="0"/>
              <a:t>2</a:t>
            </a:r>
            <a:r>
              <a:rPr lang="en-GB" dirty="0"/>
              <a:t> = 0,005</a:t>
            </a:r>
          </a:p>
          <a:p>
            <a:pPr algn="ctr"/>
            <a:r>
              <a:rPr lang="en-GB" dirty="0"/>
              <a:t>y = 5,68x + 0,0195</a:t>
            </a:r>
          </a:p>
          <a:p>
            <a:endParaRPr lang="en-GB" baseline="300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1A34BAB-1B5E-40AF-A48E-D3F47AF59D30}"/>
              </a:ext>
            </a:extLst>
          </p:cNvPr>
          <p:cNvSpPr txBox="1"/>
          <p:nvPr/>
        </p:nvSpPr>
        <p:spPr>
          <a:xfrm>
            <a:off x="8902272" y="2499615"/>
            <a:ext cx="22541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baseline="30000" dirty="0"/>
              <a:t>2</a:t>
            </a:r>
            <a:r>
              <a:rPr lang="en-GB" dirty="0"/>
              <a:t> = 0,0056</a:t>
            </a:r>
          </a:p>
          <a:p>
            <a:pPr algn="ctr"/>
            <a:r>
              <a:rPr lang="en-GB" dirty="0"/>
              <a:t>y =0,00034+ 0,0074</a:t>
            </a:r>
          </a:p>
          <a:p>
            <a:endParaRPr lang="en-GB" baseline="30000" dirty="0"/>
          </a:p>
        </p:txBody>
      </p:sp>
    </p:spTree>
    <p:extLst>
      <p:ext uri="{BB962C8B-B14F-4D97-AF65-F5344CB8AC3E}">
        <p14:creationId xmlns:p14="http://schemas.microsoft.com/office/powerpoint/2010/main" val="230521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5F46E-C93B-41DA-AEC0-761EF089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LINEAR REGRESSION COMPARISON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C7CD05-78AE-4E50-8676-0890EE648A61}"/>
              </a:ext>
            </a:extLst>
          </p:cNvPr>
          <p:cNvSpPr txBox="1"/>
          <p:nvPr/>
        </p:nvSpPr>
        <p:spPr>
          <a:xfrm>
            <a:off x="2482671" y="1829528"/>
            <a:ext cx="722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compare the linear </a:t>
            </a:r>
            <a:r>
              <a:rPr lang="it-IT" dirty="0" err="1"/>
              <a:t>regression</a:t>
            </a:r>
            <a:r>
              <a:rPr lang="it-IT" dirty="0"/>
              <a:t> plot with and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outliers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9026B-8F84-4281-A795-58B842C31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27" y="3385794"/>
            <a:ext cx="3977359" cy="28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7DD25D2-EFBD-4898-B2C4-55EC9304E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603" y="3347538"/>
            <a:ext cx="4040576" cy="285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6838F3D-09FD-42AB-AE91-8A864CF26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65" y="3347538"/>
            <a:ext cx="3986513" cy="2820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02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2648BA-9002-4A95-98A1-56106AA8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K-NEAREST NEIGHBOR (KNN)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8059EF6-4906-41E6-954C-9F6C05A2C650}"/>
              </a:ext>
            </a:extLst>
          </p:cNvPr>
          <p:cNvSpPr txBox="1"/>
          <p:nvPr/>
        </p:nvSpPr>
        <p:spPr>
          <a:xfrm>
            <a:off x="705394" y="1854925"/>
            <a:ext cx="10781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The K Nearest Neighbor or KNN is a supervised classification algorithm that associates a given x to the class based on the quantity of elements of a given class in each range.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Given W classes and N supervised training samples. To classify a pattern x, the distance is computed (using predefined metrics) between the pattern x and k nearest samples. </a:t>
            </a:r>
            <a:endParaRPr lang="it-IT" dirty="0">
              <a:latin typeface="+mj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5AC54C-B3B6-4D7D-9723-6AD182FAEB67}"/>
              </a:ext>
            </a:extLst>
          </p:cNvPr>
          <p:cNvSpPr txBox="1"/>
          <p:nvPr/>
        </p:nvSpPr>
        <p:spPr>
          <a:xfrm>
            <a:off x="705394" y="3429000"/>
            <a:ext cx="50335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Validation</a:t>
            </a:r>
            <a:r>
              <a:rPr lang="it-IT" dirty="0"/>
              <a:t> model</a:t>
            </a:r>
          </a:p>
          <a:p>
            <a:r>
              <a:rPr lang="it-IT" dirty="0"/>
              <a:t>In order to </a:t>
            </a:r>
            <a:r>
              <a:rPr lang="en-US" dirty="0"/>
              <a:t>evaluate</a:t>
            </a:r>
            <a:r>
              <a:rPr lang="it-IT" dirty="0"/>
              <a:t> the model, we take in account </a:t>
            </a:r>
            <a:r>
              <a:rPr lang="it-IT" dirty="0" err="1"/>
              <a:t>different</a:t>
            </a:r>
            <a:r>
              <a:rPr lang="it-IT" dirty="0"/>
              <a:t> information like </a:t>
            </a:r>
            <a:r>
              <a:rPr lang="it-IT" dirty="0" err="1"/>
              <a:t>accuracy</a:t>
            </a:r>
            <a:r>
              <a:rPr lang="it-IT" dirty="0"/>
              <a:t>,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and </a:t>
            </a:r>
            <a:r>
              <a:rPr lang="it-IT" dirty="0" err="1"/>
              <a:t>classification</a:t>
            </a:r>
            <a:r>
              <a:rPr lang="it-IT" dirty="0"/>
              <a:t> report.</a:t>
            </a:r>
          </a:p>
          <a:p>
            <a:r>
              <a:rPr lang="it-IT" dirty="0"/>
              <a:t>To </a:t>
            </a:r>
            <a:r>
              <a:rPr lang="it-IT" dirty="0" err="1"/>
              <a:t>find</a:t>
            </a:r>
            <a:r>
              <a:rPr lang="it-IT" dirty="0"/>
              <a:t> the best case and </a:t>
            </a:r>
            <a:r>
              <a:rPr lang="it-IT" dirty="0" err="1"/>
              <a:t>worst</a:t>
            </a:r>
            <a:r>
              <a:rPr lang="it-IT" dirty="0"/>
              <a:t> case,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train</a:t>
            </a:r>
            <a:r>
              <a:rPr lang="it-IT" dirty="0"/>
              <a:t> the model with a k in a range </a:t>
            </a:r>
            <a:r>
              <a:rPr lang="it-IT" dirty="0" err="1"/>
              <a:t>between</a:t>
            </a:r>
            <a:r>
              <a:rPr lang="it-IT" dirty="0"/>
              <a:t> 1 and 51.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DFBC589-4189-4B68-81EC-E8FBC63CE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38856"/>
            <a:ext cx="5495925" cy="2876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940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0E74C-9AD4-4D63-83AE-FFB053C0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41" y="572627"/>
            <a:ext cx="3465704" cy="472402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200" dirty="0"/>
              <a:t>BEST CASE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089579-610F-4DDF-A71C-5EE70EA41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61" y="1431289"/>
            <a:ext cx="3465704" cy="190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CEA860B-4902-4C06-A75C-7D801F85F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42" y="3563380"/>
            <a:ext cx="3465704" cy="272199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2D6C6F9A-E975-4596-AD0A-86C7BCACA43D}"/>
              </a:ext>
            </a:extLst>
          </p:cNvPr>
          <p:cNvSpPr txBox="1">
            <a:spLocks/>
          </p:cNvSpPr>
          <p:nvPr/>
        </p:nvSpPr>
        <p:spPr>
          <a:xfrm>
            <a:off x="4363148" y="572627"/>
            <a:ext cx="3465704" cy="47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it-IT" sz="3200" dirty="0"/>
              <a:t>GENERAL CASE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3FB6E970-9D88-4746-A868-DEF2A3D5D7D0}"/>
              </a:ext>
            </a:extLst>
          </p:cNvPr>
          <p:cNvSpPr txBox="1">
            <a:spLocks/>
          </p:cNvSpPr>
          <p:nvPr/>
        </p:nvSpPr>
        <p:spPr>
          <a:xfrm>
            <a:off x="7960481" y="572627"/>
            <a:ext cx="3465704" cy="472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it-IT" sz="3200" dirty="0"/>
              <a:t>WORST CASE</a:t>
            </a:r>
          </a:p>
        </p:txBody>
      </p:sp>
      <p:pic>
        <p:nvPicPr>
          <p:cNvPr id="9" name="Immagine 8" descr="Immagine che contiene testo, elettronico&#10;&#10;Descrizione generata automaticamente">
            <a:extLst>
              <a:ext uri="{FF2B5EF4-FFF2-40B4-BE49-F238E27FC236}">
                <a16:creationId xmlns:a16="http://schemas.microsoft.com/office/drawing/2014/main" id="{CAF34663-5B4B-45CC-909C-5EAE3DEE6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286" y="1431289"/>
            <a:ext cx="3627566" cy="190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EB86CA9-2E99-4192-80AC-D1924ABEA1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217" y="3563380"/>
            <a:ext cx="3627566" cy="281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magine 10" descr="Immagine che contiene testo, elettronico&#10;&#10;Descrizione generata automaticamente">
            <a:extLst>
              <a:ext uri="{FF2B5EF4-FFF2-40B4-BE49-F238E27FC236}">
                <a16:creationId xmlns:a16="http://schemas.microsoft.com/office/drawing/2014/main" id="{6971CD29-4C99-4851-A1A6-CFF3F4AB9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265" y="1431290"/>
            <a:ext cx="3627874" cy="190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2D7B3B4-E452-4900-99F3-EF2989BB9F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265" y="3526222"/>
            <a:ext cx="3627567" cy="284912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CF3E226-3881-4258-B040-63AF5F68E6C5}"/>
              </a:ext>
            </a:extLst>
          </p:cNvPr>
          <p:cNvSpPr txBox="1"/>
          <p:nvPr/>
        </p:nvSpPr>
        <p:spPr>
          <a:xfrm>
            <a:off x="1992381" y="104502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k=1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1873FC2-AAE2-4D88-B033-54883641634C}"/>
              </a:ext>
            </a:extLst>
          </p:cNvPr>
          <p:cNvSpPr txBox="1"/>
          <p:nvPr/>
        </p:nvSpPr>
        <p:spPr>
          <a:xfrm>
            <a:off x="5801688" y="101502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k=5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2C38C1B-4580-4AD9-8E62-124EFFB9975D}"/>
              </a:ext>
            </a:extLst>
          </p:cNvPr>
          <p:cNvSpPr txBox="1"/>
          <p:nvPr/>
        </p:nvSpPr>
        <p:spPr>
          <a:xfrm>
            <a:off x="9503915" y="1004217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k = 25</a:t>
            </a:r>
          </a:p>
        </p:txBody>
      </p:sp>
    </p:spTree>
    <p:extLst>
      <p:ext uri="{BB962C8B-B14F-4D97-AF65-F5344CB8AC3E}">
        <p14:creationId xmlns:p14="http://schemas.microsoft.com/office/powerpoint/2010/main" val="387953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0BA960-869D-43DC-80B8-60547DBA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2800" dirty="0"/>
              <a:t>PEARSON, SPEARMAN AND KENDALL CORRELATION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980911-A888-42BE-9590-774271C7BCE7}"/>
              </a:ext>
            </a:extLst>
          </p:cNvPr>
          <p:cNvSpPr txBox="1"/>
          <p:nvPr/>
        </p:nvSpPr>
        <p:spPr>
          <a:xfrm>
            <a:off x="679269" y="2014194"/>
            <a:ext cx="10281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apply</a:t>
            </a:r>
            <a:r>
              <a:rPr lang="it-IT" dirty="0"/>
              <a:t> the </a:t>
            </a:r>
            <a:r>
              <a:rPr lang="en-US" dirty="0"/>
              <a:t>Spearman</a:t>
            </a:r>
            <a:r>
              <a:rPr lang="it-IT" dirty="0"/>
              <a:t>, Kendall and Pearson </a:t>
            </a:r>
            <a:r>
              <a:rPr lang="it-IT" dirty="0" err="1"/>
              <a:t>correlation</a:t>
            </a:r>
            <a:r>
              <a:rPr lang="it-IT" dirty="0"/>
              <a:t> in order to </a:t>
            </a:r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type</a:t>
            </a:r>
            <a:r>
              <a:rPr lang="it-IT" dirty="0"/>
              <a:t> of </a:t>
            </a:r>
          </a:p>
          <a:p>
            <a:r>
              <a:rPr lang="it-IT" dirty="0" err="1"/>
              <a:t>correlation</a:t>
            </a:r>
            <a:r>
              <a:rPr lang="it-IT" dirty="0"/>
              <a:t>.</a:t>
            </a:r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C07DF0A-CEF3-4EA4-86BB-40061536F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751" y="3484437"/>
            <a:ext cx="275272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D4AE8F-1B8E-4E4F-9BB4-24A56C17C049}"/>
              </a:ext>
            </a:extLst>
          </p:cNvPr>
          <p:cNvSpPr txBox="1"/>
          <p:nvPr/>
        </p:nvSpPr>
        <p:spPr>
          <a:xfrm>
            <a:off x="1894114" y="3059668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Original</a:t>
            </a:r>
            <a:r>
              <a:rPr lang="it-IT" dirty="0"/>
              <a:t> </a:t>
            </a:r>
            <a:r>
              <a:rPr lang="it-IT" dirty="0" err="1"/>
              <a:t>dataframe</a:t>
            </a:r>
            <a:r>
              <a:rPr lang="it-IT" dirty="0"/>
              <a:t> </a:t>
            </a:r>
          </a:p>
        </p:txBody>
      </p:sp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997F6152-79A8-4F82-BBFE-3E3A04F33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135" y="3523864"/>
            <a:ext cx="2747334" cy="10559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17B01B-32DE-4D9A-9947-A91878832B49}"/>
              </a:ext>
            </a:extLst>
          </p:cNvPr>
          <p:cNvSpPr txBox="1"/>
          <p:nvPr/>
        </p:nvSpPr>
        <p:spPr>
          <a:xfrm>
            <a:off x="7905887" y="3059668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Cleared</a:t>
            </a:r>
            <a:r>
              <a:rPr lang="it-IT" dirty="0"/>
              <a:t> </a:t>
            </a:r>
            <a:r>
              <a:rPr lang="it-IT" dirty="0" err="1"/>
              <a:t>dataframe</a:t>
            </a:r>
            <a:r>
              <a:rPr lang="it-IT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E89771E-D025-4FB3-B979-422CAD9CBA3A}"/>
              </a:ext>
            </a:extLst>
          </p:cNvPr>
          <p:cNvSpPr txBox="1"/>
          <p:nvPr/>
        </p:nvSpPr>
        <p:spPr>
          <a:xfrm>
            <a:off x="1219200" y="4946469"/>
            <a:ext cx="4323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Positive </a:t>
            </a:r>
            <a:r>
              <a:rPr lang="it-IT" dirty="0" err="1"/>
              <a:t>correlation</a:t>
            </a:r>
            <a:r>
              <a:rPr lang="it-IT" dirty="0"/>
              <a:t> with </a:t>
            </a:r>
            <a:r>
              <a:rPr lang="it-IT" dirty="0" err="1"/>
              <a:t>Spearman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Good </a:t>
            </a:r>
            <a:r>
              <a:rPr lang="it-IT" dirty="0" err="1"/>
              <a:t>correlation</a:t>
            </a:r>
            <a:r>
              <a:rPr lang="it-IT" dirty="0"/>
              <a:t> with Pearson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Positive </a:t>
            </a:r>
            <a:r>
              <a:rPr lang="it-IT" dirty="0" err="1"/>
              <a:t>correlation</a:t>
            </a:r>
            <a:r>
              <a:rPr lang="it-IT" dirty="0"/>
              <a:t> with Kendall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6F2241A-87B9-4138-8DCF-7C0167E9B03E}"/>
              </a:ext>
            </a:extLst>
          </p:cNvPr>
          <p:cNvSpPr txBox="1"/>
          <p:nvPr/>
        </p:nvSpPr>
        <p:spPr>
          <a:xfrm>
            <a:off x="6862323" y="4843807"/>
            <a:ext cx="47628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Positive </a:t>
            </a:r>
            <a:r>
              <a:rPr lang="it-IT" dirty="0" err="1"/>
              <a:t>correlation</a:t>
            </a:r>
            <a:r>
              <a:rPr lang="it-IT" dirty="0"/>
              <a:t> with Pearson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Good </a:t>
            </a:r>
            <a:r>
              <a:rPr lang="it-IT" dirty="0" err="1"/>
              <a:t>correlation</a:t>
            </a:r>
            <a:r>
              <a:rPr lang="it-IT" dirty="0"/>
              <a:t> with Pearson for </a:t>
            </a:r>
            <a:r>
              <a:rPr lang="it-IT" dirty="0" err="1"/>
              <a:t>loc</a:t>
            </a:r>
            <a:endParaRPr lang="it-IT" dirty="0"/>
          </a:p>
          <a:p>
            <a:r>
              <a:rPr lang="it-IT" dirty="0"/>
              <a:t>     </a:t>
            </a:r>
            <a:r>
              <a:rPr lang="it-IT" dirty="0" err="1"/>
              <a:t>but</a:t>
            </a:r>
            <a:r>
              <a:rPr lang="it-IT" dirty="0"/>
              <a:t> negative with </a:t>
            </a:r>
            <a:r>
              <a:rPr lang="it-IT" dirty="0" err="1"/>
              <a:t>lcom</a:t>
            </a:r>
            <a:r>
              <a:rPr lang="it-IT" dirty="0"/>
              <a:t> and </a:t>
            </a:r>
            <a:r>
              <a:rPr lang="it-IT" dirty="0" err="1"/>
              <a:t>rfc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Positive </a:t>
            </a:r>
            <a:r>
              <a:rPr lang="it-IT" dirty="0" err="1"/>
              <a:t>correlation</a:t>
            </a:r>
            <a:r>
              <a:rPr lang="it-IT" dirty="0"/>
              <a:t> with Kendall for </a:t>
            </a:r>
            <a:r>
              <a:rPr lang="it-IT" dirty="0" err="1"/>
              <a:t>loc</a:t>
            </a:r>
            <a:endParaRPr lang="it-IT" dirty="0"/>
          </a:p>
          <a:p>
            <a:r>
              <a:rPr lang="it-IT" dirty="0"/>
              <a:t>    </a:t>
            </a:r>
            <a:r>
              <a:rPr lang="it-IT" dirty="0" err="1"/>
              <a:t>but</a:t>
            </a:r>
            <a:r>
              <a:rPr lang="it-IT" dirty="0"/>
              <a:t> negative with </a:t>
            </a:r>
            <a:r>
              <a:rPr lang="it-IT" dirty="0" err="1"/>
              <a:t>lcom</a:t>
            </a:r>
            <a:r>
              <a:rPr lang="it-IT" dirty="0"/>
              <a:t> and </a:t>
            </a:r>
            <a:r>
              <a:rPr lang="it-IT" dirty="0" err="1"/>
              <a:t>rfc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8863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2DF462-5A64-4DE3-99FF-FA717F5A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CONCLUSION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28D15C-B913-462D-9CE1-A025FFD580EA}"/>
              </a:ext>
            </a:extLst>
          </p:cNvPr>
          <p:cNvSpPr txBox="1"/>
          <p:nvPr/>
        </p:nvSpPr>
        <p:spPr>
          <a:xfrm>
            <a:off x="829235" y="2142565"/>
            <a:ext cx="10533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Summarize:</a:t>
            </a:r>
          </a:p>
          <a:p>
            <a:pPr marL="285750" indent="-285750">
              <a:buFontTx/>
              <a:buChar char="-"/>
            </a:pPr>
            <a:r>
              <a:rPr lang="en-GB" dirty="0"/>
              <a:t>Dataset contains 492 records and 24 attributes</a:t>
            </a:r>
          </a:p>
          <a:p>
            <a:pPr marL="285750" indent="-285750">
              <a:buFontTx/>
              <a:buChar char="-"/>
            </a:pPr>
            <a:r>
              <a:rPr lang="en-GB" dirty="0"/>
              <a:t>We have 3 bug classes</a:t>
            </a:r>
          </a:p>
          <a:p>
            <a:pPr marL="285750" indent="-285750">
              <a:buFontTx/>
              <a:buChar char="-"/>
            </a:pPr>
            <a:r>
              <a:rPr lang="en-GB" dirty="0"/>
              <a:t>Linear regression shows us the correlation between k-best feature result and bug</a:t>
            </a:r>
          </a:p>
          <a:p>
            <a:pPr marL="285750" indent="-285750">
              <a:buFontTx/>
              <a:buChar char="-"/>
            </a:pPr>
            <a:r>
              <a:rPr lang="en-GB" dirty="0"/>
              <a:t>KNN give us an idea on how a classification algorithm groups elements basing on existing information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Pearson, Spearman and Kendall correlation return the correlation type (positive – negative – null)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r>
              <a:rPr lang="en-GB" dirty="0"/>
              <a:t>Limitation: without outliers the results change deeply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4180214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54_TF78438558" id="{03469F01-97D1-4A1E-853B-6A26B56D87BB}" vid="{335298E4-38AB-4269-9352-375A27B5961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{31776CEB-8B45-4AE5-BD95-1B8D929705C2}tf78438558_win32</Template>
  <TotalTime>168</TotalTime>
  <Words>797</Words>
  <Application>Microsoft Office PowerPoint</Application>
  <PresentationFormat>Widescreen</PresentationFormat>
  <Paragraphs>131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Garamond</vt:lpstr>
      <vt:lpstr>Times New Roman</vt:lpstr>
      <vt:lpstr>SavonVTI</vt:lpstr>
      <vt:lpstr>SOFTWARE QUALITY EVALUATION</vt:lpstr>
      <vt:lpstr>INTRODUCTION</vt:lpstr>
      <vt:lpstr>DATASET</vt:lpstr>
      <vt:lpstr>CORRELATION MATRIX</vt:lpstr>
      <vt:lpstr>SELECT K-BEST</vt:lpstr>
      <vt:lpstr>WHAT ARE LOC, LCOM AND RFC?</vt:lpstr>
      <vt:lpstr>GRAPH VISUALIZATION</vt:lpstr>
      <vt:lpstr>Presentazione standard di PowerPoint</vt:lpstr>
      <vt:lpstr>SCATTER PLOT</vt:lpstr>
      <vt:lpstr>BOXPLOT</vt:lpstr>
      <vt:lpstr>Presentazione standard di PowerPoint</vt:lpstr>
      <vt:lpstr>DESCRIPTIVE ANALYSIS</vt:lpstr>
      <vt:lpstr>LINEAR REGRESSION</vt:lpstr>
      <vt:lpstr>OUTLIERS MANAGEMENT</vt:lpstr>
      <vt:lpstr>Presentazione standard di PowerPoint</vt:lpstr>
      <vt:lpstr>LINEAR REGESSION WITHOUT OUTLIERS</vt:lpstr>
      <vt:lpstr>LINEAR REGRESSION COMPARISON</vt:lpstr>
      <vt:lpstr>K-NEAREST NEIGHBOR (KNN)</vt:lpstr>
      <vt:lpstr>BEST CASE</vt:lpstr>
      <vt:lpstr>PEARSON, SPEARMAN AND KENDALL CORRELATION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EVALUATION</dc:title>
  <dc:creator>MOLTENI GIANLUCA</dc:creator>
  <cp:lastModifiedBy>Gianluca Molteni</cp:lastModifiedBy>
  <cp:revision>7</cp:revision>
  <dcterms:created xsi:type="dcterms:W3CDTF">2022-01-24T17:33:46Z</dcterms:created>
  <dcterms:modified xsi:type="dcterms:W3CDTF">2022-01-25T13:24:04Z</dcterms:modified>
</cp:coreProperties>
</file>